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?>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5" r:id="rId4"/>
    <p:sldId id="264" r:id="rId5"/>
    <p:sldId id="267" r:id="rId6"/>
    <p:sldId id="266" r:id="rId7"/>
    <p:sldId id="268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9EE980-B1E9-4CBB-97CD-07789812D41E}" v="596" dt="2022-05-09T16:27:54.8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102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?>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2022-10-02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971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2022-10-02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3982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2022-10-02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234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2022-10-02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96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2022-10-02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3469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2022-10-02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0272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2022-10-02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5682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2022-10-02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9606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2022-10-02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6493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2022-10-02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513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2022-10-02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956867"/>
      </p:ext>
    </p:extLst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66825D-2B69-4989-8861-A6901ABADB6C}" type="datetimeFigureOut">
              <a:rPr lang="ko-KR" altLang="en-US" smtClean="0"/>
              <a:t>2022-10-02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6743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?>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'1.0' encoding='UTF-8'?>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0B7813D-B76D-400E-BFDE-AA4BA0BFAD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17855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41248" y="600427"/>
            <a:ext cx="10512552" cy="2240310"/>
          </a:xfrm>
        </p:spPr>
        <p:txBody>
          <a:bodyPr>
            <a:normAutofit/>
          </a:bodyPr>
          <a:lstStyle/>
          <a:p>
            <a:pPr algn="l"/>
            <a:r>
              <a:rPr lang="ko-KR" altLang="en-US" sz="7200" dirty="0">
                <a:solidFill>
                  <a:schemeClr val="bg1"/>
                </a:solidFill>
              </a:rPr>
              <a:t>주문형실습 결과 보고서</a:t>
            </a:r>
            <a:endParaRPr lang="ko-KR" sz="7200" dirty="0">
              <a:solidFill>
                <a:schemeClr val="bg1"/>
              </a:solidFill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859536" y="4119928"/>
            <a:ext cx="10494264" cy="1366472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ko-KR" sz="2800" dirty="0">
                <a:solidFill>
                  <a:schemeClr val="bg1"/>
                </a:solidFill>
                <a:latin typeface="Malgun Gothic"/>
                <a:ea typeface="Malgun Gothic"/>
              </a:rPr>
              <a:t>얼굴인식 </a:t>
            </a:r>
            <a:r>
              <a:rPr lang="ko-KR" sz="2800" dirty="0" err="1">
                <a:solidFill>
                  <a:schemeClr val="bg1"/>
                </a:solidFill>
                <a:latin typeface="Malgun Gothic"/>
                <a:ea typeface="Malgun Gothic"/>
              </a:rPr>
              <a:t>도어락</a:t>
            </a:r>
            <a:endParaRPr lang="ko-KR" sz="2800" dirty="0">
              <a:solidFill>
                <a:schemeClr val="bg1"/>
              </a:solidFill>
            </a:endParaRPr>
          </a:p>
          <a:p>
            <a:pPr algn="l"/>
            <a:r>
              <a:rPr lang="ko-KR" altLang="en-US" sz="2800" dirty="0" err="1">
                <a:solidFill>
                  <a:schemeClr val="bg1"/>
                </a:solidFill>
                <a:ea typeface="맑은 고딕"/>
              </a:rPr>
              <a:t/>
            </a:r>
            <a:r>
              <a:rPr lang="ko-KR" altLang="en-US" sz="2800" dirty="0">
                <a:solidFill>
                  <a:schemeClr val="bg1"/>
                </a:solidFill>
                <a:ea typeface="맑은 고딕"/>
              </a:rPr>
              <a:t>, , </a:t>
            </a:r>
            <a:r>
              <a:rPr lang="ko-KR" altLang="en-US" sz="2800" dirty="0" err="1">
                <a:solidFill>
                  <a:schemeClr val="bg1"/>
                </a:solidFill>
                <a:ea typeface="맑은 고딕"/>
              </a:rPr>
              <a:t/>
            </a:r>
            <a:endParaRPr lang="ko-KR" altLang="en-US" sz="2800" dirty="0">
              <a:solidFill>
                <a:schemeClr val="bg1"/>
              </a:solidFill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569210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BD55E05-51A2-4173-A7FA-869DE4F71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1345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4F454D3-CD56-10D8-B25B-BA1F8ACE4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21792"/>
            <a:ext cx="4795157" cy="5413248"/>
          </a:xfrm>
        </p:spPr>
        <p:txBody>
          <a:bodyPr>
            <a:normAutofit/>
          </a:bodyPr>
          <a:lstStyle/>
          <a:p>
            <a:r>
              <a:rPr lang="ko-KR" altLang="en-US" sz="5200" dirty="0">
                <a:solidFill>
                  <a:schemeClr val="bg1"/>
                </a:solidFill>
                <a:ea typeface="맑은 고딕"/>
              </a:rPr>
              <a:t>업무분담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8B9382B-5E77-E093-6D3A-D23E65AD3B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0963" y="1267836"/>
            <a:ext cx="4832349" cy="54132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sz="2400" dirty="0">
                <a:ea typeface="맑은 고딕"/>
              </a:rPr>
              <a:t>PART</a:t>
            </a:r>
            <a:endParaRPr lang="ko-KR" altLang="en-US" sz="2400" dirty="0">
              <a:ea typeface="맑은 고딕"/>
            </a:endParaRPr>
          </a:p>
          <a:p>
            <a:pPr lvl="1"/>
            <a:r>
              <a:rPr lang="ko-KR" sz="2000" dirty="0">
                <a:ea typeface="+mn-lt"/>
                <a:cs typeface="+mn-lt"/>
              </a:rPr>
              <a:t>: </a:t>
            </a:r>
            <a:r>
              <a:rPr lang="ko-KR" altLang="en-US" sz="2000" dirty="0" err="1">
                <a:ea typeface="+mn-lt"/>
                <a:cs typeface="+mn-lt"/>
              </a:rPr>
              <a:t>라즈베리파이</a:t>
            </a:r>
            <a:r>
              <a:rPr lang="ko-KR" sz="2000" dirty="0">
                <a:ea typeface="+mn-lt"/>
                <a:cs typeface="+mn-lt"/>
              </a:rPr>
              <a:t>,</a:t>
            </a:r>
            <a:r>
              <a:rPr lang="en-US" altLang="ko-KR" sz="2000" dirty="0">
                <a:ea typeface="+mn-lt"/>
                <a:cs typeface="+mn-lt"/>
              </a:rPr>
              <a:t> </a:t>
            </a:r>
            <a:r>
              <a:rPr lang="ko-KR" altLang="en-US" sz="2000" dirty="0">
                <a:ea typeface="+mn-lt"/>
                <a:cs typeface="+mn-lt"/>
              </a:rPr>
              <a:t>센서</a:t>
            </a:r>
            <a:endParaRPr lang="ko-KR" sz="2000" dirty="0"/>
          </a:p>
          <a:p>
            <a:pPr lvl="1"/>
            <a:r>
              <a:rPr lang="ko-KR" sz="2000" dirty="0" err="1">
                <a:ea typeface="+mn-lt"/>
                <a:cs typeface="+mn-lt"/>
              </a:rPr>
              <a:t/>
            </a:r>
            <a:r>
              <a:rPr lang="ko-KR" sz="2000" dirty="0">
                <a:ea typeface="+mn-lt"/>
                <a:cs typeface="+mn-lt"/>
              </a:rPr>
              <a:t>: </a:t>
            </a:r>
            <a:r>
              <a:rPr lang="ko-KR" altLang="en-US" sz="2000" dirty="0">
                <a:ea typeface="+mn-lt"/>
                <a:cs typeface="+mn-lt"/>
              </a:rPr>
              <a:t>얼굴 인식</a:t>
            </a:r>
            <a:r>
              <a:rPr lang="en-US" altLang="ko-KR" sz="2000" dirty="0">
                <a:ea typeface="+mn-lt"/>
                <a:cs typeface="+mn-lt"/>
              </a:rPr>
              <a:t>, </a:t>
            </a:r>
            <a:r>
              <a:rPr lang="ko-KR" altLang="en-US" sz="2000" dirty="0">
                <a:ea typeface="+mn-lt"/>
                <a:cs typeface="+mn-lt"/>
              </a:rPr>
              <a:t>카메라</a:t>
            </a:r>
            <a:endParaRPr lang="ko-KR" sz="2000" dirty="0"/>
          </a:p>
          <a:p>
            <a:pPr lvl="1"/>
            <a:r>
              <a:rPr lang="ko-KR" sz="2000" dirty="0" err="1">
                <a:ea typeface="+mn-lt"/>
                <a:cs typeface="+mn-lt"/>
              </a:rPr>
              <a:t/>
            </a:r>
            <a:r>
              <a:rPr lang="ko-KR" sz="2000" dirty="0">
                <a:ea typeface="+mn-lt"/>
                <a:cs typeface="+mn-lt"/>
              </a:rPr>
              <a:t>: </a:t>
            </a:r>
            <a:r>
              <a:rPr lang="ko-KR" altLang="en-US" sz="2000" dirty="0">
                <a:ea typeface="+mn-lt"/>
                <a:cs typeface="+mn-lt"/>
              </a:rPr>
              <a:t>얼굴 분류</a:t>
            </a:r>
            <a:r>
              <a:rPr lang="en-US" altLang="ko-KR" sz="2000" dirty="0">
                <a:ea typeface="+mn-lt"/>
                <a:cs typeface="+mn-lt"/>
              </a:rPr>
              <a:t>, </a:t>
            </a:r>
            <a:r>
              <a:rPr lang="ko-KR" altLang="en-US" sz="2000" dirty="0" err="1">
                <a:ea typeface="+mn-lt"/>
                <a:cs typeface="+mn-lt"/>
              </a:rPr>
              <a:t>머신러닝</a:t>
            </a:r>
            <a:endParaRPr lang="ko-KR" sz="2000" dirty="0">
              <a:ea typeface="+mn-lt"/>
              <a:cs typeface="+mn-lt"/>
            </a:endParaRPr>
          </a:p>
          <a:p>
            <a:endParaRPr lang="ko-KR" altLang="en-US" sz="2400" dirty="0">
              <a:ea typeface="맑은 고딕"/>
            </a:endParaRPr>
          </a:p>
          <a:p>
            <a:r>
              <a:rPr lang="ko-KR" altLang="en-US" sz="2400" dirty="0">
                <a:ea typeface="맑은 고딕"/>
              </a:rPr>
              <a:t>환경</a:t>
            </a:r>
          </a:p>
          <a:p>
            <a:pPr lvl="1"/>
            <a:r>
              <a:rPr lang="ko-KR" sz="2000" dirty="0" err="1">
                <a:ea typeface="+mn-lt"/>
                <a:cs typeface="+mn-lt"/>
              </a:rPr>
              <a:t>파이참</a:t>
            </a:r>
            <a:r>
              <a:rPr lang="ko-KR" sz="2000" dirty="0">
                <a:ea typeface="+mn-lt"/>
                <a:cs typeface="+mn-lt"/>
              </a:rPr>
              <a:t> </a:t>
            </a:r>
            <a:endParaRPr lang="ko-KR" altLang="en-US" sz="2000" dirty="0">
              <a:ea typeface="+mn-lt"/>
              <a:cs typeface="+mn-lt"/>
            </a:endParaRPr>
          </a:p>
          <a:p>
            <a:pPr lvl="1"/>
            <a:r>
              <a:rPr lang="ko-KR" sz="2000" dirty="0">
                <a:ea typeface="+mn-lt"/>
                <a:cs typeface="+mn-lt"/>
              </a:rPr>
              <a:t>아나콘다</a:t>
            </a:r>
            <a:endParaRPr lang="ko-KR" altLang="en-US" sz="2000" dirty="0">
              <a:ea typeface="+mn-lt"/>
              <a:cs typeface="+mn-lt"/>
            </a:endParaRPr>
          </a:p>
          <a:p>
            <a:pPr lvl="1"/>
            <a:r>
              <a:rPr lang="ko-KR" sz="2000" dirty="0" err="1">
                <a:ea typeface="+mn-lt"/>
                <a:cs typeface="+mn-lt"/>
              </a:rPr>
              <a:t>Python</a:t>
            </a:r>
            <a:r>
              <a:rPr lang="ko-KR" sz="2000" dirty="0">
                <a:ea typeface="+mn-lt"/>
                <a:cs typeface="+mn-lt"/>
              </a:rPr>
              <a:t> 3.6</a:t>
            </a:r>
            <a:endParaRPr lang="en-US" altLang="ko-KR" sz="2000" dirty="0">
              <a:ea typeface="+mn-lt"/>
              <a:cs typeface="+mn-lt"/>
            </a:endParaRPr>
          </a:p>
          <a:p>
            <a:pPr lvl="1"/>
            <a:r>
              <a:rPr lang="en-US" altLang="ko-KR" sz="2000" dirty="0">
                <a:ea typeface="+mn-lt"/>
                <a:cs typeface="+mn-lt"/>
              </a:rPr>
              <a:t>Open cv</a:t>
            </a:r>
          </a:p>
          <a:p>
            <a:pPr lvl="1"/>
            <a:r>
              <a:rPr lang="en-US" altLang="ko-KR" sz="2000" dirty="0" err="1">
                <a:ea typeface="+mn-lt"/>
                <a:cs typeface="+mn-lt"/>
              </a:rPr>
              <a:t>face_recognition</a:t>
            </a:r>
            <a:endParaRPr lang="en-US" altLang="ko-KR" sz="2000" dirty="0">
              <a:ea typeface="+mn-lt"/>
              <a:cs typeface="+mn-lt"/>
            </a:endParaRPr>
          </a:p>
          <a:p>
            <a:endParaRPr lang="ko-KR" sz="2400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983157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FF9B822F-893E-44C8-963C-64F50ACECB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BF87945-A001-489F-9D9B-7D9435F0B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8639" y="347471"/>
            <a:ext cx="11100816" cy="180136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3C5D297-DD2B-7786-022D-D0B31A54D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5216"/>
            <a:ext cx="10515600" cy="1325563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85750" latinLnBrk="0"/>
            <a:r>
              <a:rPr lang="ko-KR" altLang="en-US" b="1" dirty="0">
                <a:solidFill>
                  <a:schemeClr val="bg1"/>
                </a:solidFill>
                <a:ea typeface="맑은 고딕"/>
              </a:rPr>
              <a:t>얼굴인식 </a:t>
            </a:r>
            <a:r>
              <a:rPr lang="ko-KR" altLang="en-US" b="1" dirty="0" err="1">
                <a:solidFill>
                  <a:schemeClr val="bg1"/>
                </a:solidFill>
                <a:ea typeface="맑은 고딕"/>
              </a:rPr>
              <a:t>도어락</a:t>
            </a:r>
            <a:endParaRPr lang="en-US" altLang="ko-KR" b="1" dirty="0">
              <a:solidFill>
                <a:schemeClr val="bg1"/>
              </a:solidFill>
              <a:ea typeface="맑은 고딕"/>
            </a:endParaRPr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05AE507B-EC97-91E1-CABA-1319688719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5592" y="2744393"/>
            <a:ext cx="11100815" cy="218800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ko-KR" altLang="en-US" sz="2400" dirty="0">
                <a:ea typeface="맑은 고딕"/>
              </a:rPr>
              <a:t>프로젝트 목적</a:t>
            </a:r>
            <a:endParaRPr lang="en-US" altLang="ko-KR" sz="2000" dirty="0">
              <a:ea typeface="맑은 고딕"/>
            </a:endParaRPr>
          </a:p>
          <a:p>
            <a:pPr lvl="1" latinLnBrk="0"/>
            <a:r>
              <a:rPr lang="ko-KR" altLang="en-US" sz="2000" dirty="0" err="1">
                <a:ea typeface="맑은 고딕"/>
              </a:rPr>
              <a:t>라즈베리파이로</a:t>
            </a:r>
            <a:r>
              <a:rPr lang="ko-KR" altLang="en-US" sz="2000" dirty="0">
                <a:ea typeface="맑은 고딕"/>
              </a:rPr>
              <a:t> 동작</a:t>
            </a:r>
            <a:r>
              <a:rPr lang="en-US" altLang="ko-KR" sz="2000" dirty="0">
                <a:ea typeface="맑은 고딕"/>
              </a:rPr>
              <a:t>, </a:t>
            </a:r>
            <a:r>
              <a:rPr lang="ko-KR" altLang="en-US" sz="2000" dirty="0">
                <a:ea typeface="맑은 고딕"/>
              </a:rPr>
              <a:t>얼굴 인식 및 얼굴 분류로 잠금을 해제할 수 있는 </a:t>
            </a:r>
            <a:r>
              <a:rPr lang="ko-KR" altLang="en-US" sz="2000" dirty="0" err="1">
                <a:ea typeface="맑은 고딕"/>
              </a:rPr>
              <a:t>도어락</a:t>
            </a:r>
            <a:r>
              <a:rPr lang="ko-KR" altLang="en-US" sz="2000" dirty="0">
                <a:ea typeface="맑은 고딕"/>
              </a:rPr>
              <a:t> 만들기</a:t>
            </a:r>
            <a:endParaRPr lang="en-US" altLang="ko-KR" sz="2000" dirty="0">
              <a:ea typeface="맑은 고딕"/>
            </a:endParaRPr>
          </a:p>
          <a:p>
            <a:pPr lvl="1" latinLnBrk="0"/>
            <a:r>
              <a:rPr lang="ko-KR" altLang="en-US" sz="2000" dirty="0">
                <a:ea typeface="맑은 고딕"/>
              </a:rPr>
              <a:t>얼굴인식과 얼굴 분류 알고리즘의 이해</a:t>
            </a:r>
            <a:endParaRPr lang="en-US" altLang="ko-KR" sz="2000" dirty="0">
              <a:ea typeface="맑은 고딕"/>
            </a:endParaRPr>
          </a:p>
          <a:p>
            <a:pPr lvl="1" latinLnBrk="0"/>
            <a:r>
              <a:rPr lang="ko-KR" altLang="en-US" sz="2000" dirty="0">
                <a:ea typeface="맑은 고딕"/>
              </a:rPr>
              <a:t>불특정 다수가 이용하는 시설에서의 보안을 위한 효과적인 출입통제 시스템 구현</a:t>
            </a:r>
            <a:endParaRPr lang="en-US" altLang="ko-KR" sz="2000" dirty="0">
              <a:ea typeface="맑은 고딕"/>
            </a:endParaRPr>
          </a:p>
          <a:p>
            <a:pPr latinLnBrk="0"/>
            <a:endParaRPr lang="en-US" altLang="ko-KR" sz="2200" dirty="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845815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FF9B822F-893E-44C8-963C-64F50ACECB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BF87945-A001-489F-9D9B-7D9435F0B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8639" y="347471"/>
            <a:ext cx="11100816" cy="180136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3C5D297-DD2B-7786-022D-D0B31A54D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5216"/>
            <a:ext cx="10515600" cy="1325563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85750" latinLnBrk="0"/>
            <a:r>
              <a:rPr lang="ko-KR" altLang="en-US" b="1" dirty="0">
                <a:solidFill>
                  <a:schemeClr val="bg1"/>
                </a:solidFill>
                <a:ea typeface="맑은 고딕"/>
              </a:rPr>
              <a:t>작동 순서 </a:t>
            </a:r>
            <a:r>
              <a:rPr lang="en-US" altLang="ko-KR" b="1" dirty="0">
                <a:solidFill>
                  <a:schemeClr val="bg1"/>
                </a:solidFill>
                <a:ea typeface="맑은 고딕"/>
              </a:rPr>
              <a:t>(</a:t>
            </a:r>
            <a:r>
              <a:rPr lang="ko-KR" altLang="en-US" b="1" dirty="0">
                <a:solidFill>
                  <a:schemeClr val="bg1"/>
                </a:solidFill>
                <a:ea typeface="맑은 고딕"/>
              </a:rPr>
              <a:t>서버</a:t>
            </a:r>
            <a:r>
              <a:rPr lang="en-US" altLang="ko-KR" b="1" dirty="0">
                <a:solidFill>
                  <a:schemeClr val="bg1"/>
                </a:solidFill>
                <a:ea typeface="맑은 고딕"/>
              </a:rPr>
              <a:t>)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11D1D62B-B96A-8BF9-DFA7-D94D834F8304}"/>
              </a:ext>
            </a:extLst>
          </p:cNvPr>
          <p:cNvSpPr/>
          <p:nvPr/>
        </p:nvSpPr>
        <p:spPr>
          <a:xfrm>
            <a:off x="9142763" y="4156192"/>
            <a:ext cx="2187146" cy="81554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카메라</a:t>
            </a:r>
            <a:r>
              <a:rPr lang="en-US" altLang="ko-KR" dirty="0"/>
              <a:t>(</a:t>
            </a:r>
            <a:r>
              <a:rPr lang="ko-KR" altLang="en-US" dirty="0"/>
              <a:t>얼굴인식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57298F00-9182-76F7-EFA4-22FCD14EC054}"/>
              </a:ext>
            </a:extLst>
          </p:cNvPr>
          <p:cNvSpPr/>
          <p:nvPr/>
        </p:nvSpPr>
        <p:spPr>
          <a:xfrm>
            <a:off x="3298019" y="2933225"/>
            <a:ext cx="2187146" cy="81554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라즈베리파이</a:t>
            </a:r>
            <a:endParaRPr lang="ko-KR" altLang="en-US" dirty="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C4FAF7A7-180E-CB50-39AA-B1076269F3A7}"/>
              </a:ext>
            </a:extLst>
          </p:cNvPr>
          <p:cNvSpPr/>
          <p:nvPr/>
        </p:nvSpPr>
        <p:spPr>
          <a:xfrm>
            <a:off x="6269817" y="2933225"/>
            <a:ext cx="2187146" cy="81554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초음파 센서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BDBBBD74-8DB5-374E-98C0-A81D718690B3}"/>
              </a:ext>
            </a:extLst>
          </p:cNvPr>
          <p:cNvSpPr/>
          <p:nvPr/>
        </p:nvSpPr>
        <p:spPr>
          <a:xfrm>
            <a:off x="6244368" y="4156192"/>
            <a:ext cx="2187146" cy="8155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이미지 데이터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1D89B42F-258B-32E3-54B2-CB670A9FD8B3}"/>
              </a:ext>
            </a:extLst>
          </p:cNvPr>
          <p:cNvSpPr/>
          <p:nvPr/>
        </p:nvSpPr>
        <p:spPr>
          <a:xfrm>
            <a:off x="718547" y="2921243"/>
            <a:ext cx="2187146" cy="81554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이미지 저장소</a:t>
            </a:r>
          </a:p>
        </p:txBody>
      </p:sp>
      <p:sp>
        <p:nvSpPr>
          <p:cNvPr id="42" name="순서도: 판단 41">
            <a:extLst>
              <a:ext uri="{FF2B5EF4-FFF2-40B4-BE49-F238E27FC236}">
                <a16:creationId xmlns:a16="http://schemas.microsoft.com/office/drawing/2014/main" id="{CFEA8C1B-3AC1-6A9E-D0B7-CFCF29A9F62B}"/>
              </a:ext>
            </a:extLst>
          </p:cNvPr>
          <p:cNvSpPr/>
          <p:nvPr/>
        </p:nvSpPr>
        <p:spPr>
          <a:xfrm>
            <a:off x="3192247" y="4002460"/>
            <a:ext cx="2393093" cy="1112108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이미지 </a:t>
            </a:r>
            <a:endParaRPr lang="en-US" altLang="ko-KR" dirty="0"/>
          </a:p>
          <a:p>
            <a:pPr algn="ctr"/>
            <a:r>
              <a:rPr lang="ko-KR" altLang="en-US" dirty="0"/>
              <a:t>비교</a:t>
            </a:r>
            <a:endParaRPr lang="en-US" altLang="ko-KR" dirty="0"/>
          </a:p>
          <a:p>
            <a:pPr algn="ctr"/>
            <a:r>
              <a:rPr lang="en-US" altLang="ko-KR" dirty="0"/>
              <a:t>(</a:t>
            </a:r>
            <a:r>
              <a:rPr lang="ko-KR" altLang="en-US" dirty="0" err="1"/>
              <a:t>머신러닝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3" name="순서도: 판단 42">
            <a:extLst>
              <a:ext uri="{FF2B5EF4-FFF2-40B4-BE49-F238E27FC236}">
                <a16:creationId xmlns:a16="http://schemas.microsoft.com/office/drawing/2014/main" id="{ECD37C4F-1A2F-5D2E-AEB8-7FAEB38FFE65}"/>
              </a:ext>
            </a:extLst>
          </p:cNvPr>
          <p:cNvSpPr/>
          <p:nvPr/>
        </p:nvSpPr>
        <p:spPr>
          <a:xfrm>
            <a:off x="9039789" y="2788935"/>
            <a:ext cx="2393093" cy="1112108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외부 변화 감지</a:t>
            </a: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F70179D1-4CDC-3B36-35A7-4D25CFF1324C}"/>
              </a:ext>
            </a:extLst>
          </p:cNvPr>
          <p:cNvCxnSpPr/>
          <p:nvPr/>
        </p:nvCxnSpPr>
        <p:spPr>
          <a:xfrm flipV="1">
            <a:off x="10236336" y="2300305"/>
            <a:ext cx="0" cy="4791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265DAFFE-22C2-3281-6693-55F795F37D7C}"/>
              </a:ext>
            </a:extLst>
          </p:cNvPr>
          <p:cNvCxnSpPr>
            <a:cxnSpLocks/>
          </p:cNvCxnSpPr>
          <p:nvPr/>
        </p:nvCxnSpPr>
        <p:spPr>
          <a:xfrm flipH="1" flipV="1">
            <a:off x="7363390" y="2300305"/>
            <a:ext cx="2872945" cy="118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C9A6DFCD-18D9-B42B-80F8-3F4F6760EA19}"/>
              </a:ext>
            </a:extLst>
          </p:cNvPr>
          <p:cNvSpPr txBox="1"/>
          <p:nvPr/>
        </p:nvSpPr>
        <p:spPr>
          <a:xfrm>
            <a:off x="9915202" y="2432099"/>
            <a:ext cx="360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N</a:t>
            </a:r>
            <a:endParaRPr lang="ko-KR" altLang="en-US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04E903B-027E-27A7-D04A-E0F968613C0F}"/>
              </a:ext>
            </a:extLst>
          </p:cNvPr>
          <p:cNvSpPr txBox="1"/>
          <p:nvPr/>
        </p:nvSpPr>
        <p:spPr>
          <a:xfrm>
            <a:off x="4446972" y="3748771"/>
            <a:ext cx="360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N</a:t>
            </a:r>
            <a:endParaRPr lang="ko-KR" altLang="en-US" dirty="0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0265A5F0-C9B8-DC5E-3468-F86BD93D9E20}"/>
              </a:ext>
            </a:extLst>
          </p:cNvPr>
          <p:cNvSpPr/>
          <p:nvPr/>
        </p:nvSpPr>
        <p:spPr>
          <a:xfrm>
            <a:off x="3298019" y="5694983"/>
            <a:ext cx="2187146" cy="81554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서보모터</a:t>
            </a:r>
            <a:endParaRPr lang="ko-KR" altLang="en-US" dirty="0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6A37A859-BB32-A5E0-F8D1-BD81BC53FF82}"/>
              </a:ext>
            </a:extLst>
          </p:cNvPr>
          <p:cNvSpPr/>
          <p:nvPr/>
        </p:nvSpPr>
        <p:spPr>
          <a:xfrm>
            <a:off x="811512" y="5694983"/>
            <a:ext cx="2187146" cy="8155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잠금 해제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F36A620-6FE7-2073-EC40-A57064F41A1E}"/>
              </a:ext>
            </a:extLst>
          </p:cNvPr>
          <p:cNvSpPr txBox="1"/>
          <p:nvPr/>
        </p:nvSpPr>
        <p:spPr>
          <a:xfrm>
            <a:off x="4444800" y="5239330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Y</a:t>
            </a:r>
            <a:endParaRPr lang="ko-KR" alt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4241ED5-777F-7345-DCD3-AF812422DED5}"/>
              </a:ext>
            </a:extLst>
          </p:cNvPr>
          <p:cNvSpPr txBox="1"/>
          <p:nvPr/>
        </p:nvSpPr>
        <p:spPr>
          <a:xfrm>
            <a:off x="10362844" y="3820704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Y</a:t>
            </a:r>
            <a:endParaRPr lang="ko-KR" altLang="en-US" dirty="0"/>
          </a:p>
        </p:txBody>
      </p: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6620E31E-B6AC-7EDF-F0CE-0CD109B84686}"/>
              </a:ext>
            </a:extLst>
          </p:cNvPr>
          <p:cNvCxnSpPr>
            <a:stCxn id="41" idx="2"/>
          </p:cNvCxnSpPr>
          <p:nvPr/>
        </p:nvCxnSpPr>
        <p:spPr>
          <a:xfrm>
            <a:off x="1812120" y="3736789"/>
            <a:ext cx="0" cy="8217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A5CEF3DE-E068-28BE-D0B9-4EAAD00FF1E1}"/>
              </a:ext>
            </a:extLst>
          </p:cNvPr>
          <p:cNvCxnSpPr>
            <a:stCxn id="42" idx="1"/>
          </p:cNvCxnSpPr>
          <p:nvPr/>
        </p:nvCxnSpPr>
        <p:spPr>
          <a:xfrm flipH="1">
            <a:off x="1812120" y="4558514"/>
            <a:ext cx="138012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0D4086AF-3744-6550-FDAB-AA427D32EADD}"/>
              </a:ext>
            </a:extLst>
          </p:cNvPr>
          <p:cNvCxnSpPr>
            <a:stCxn id="38" idx="3"/>
            <a:endCxn id="39" idx="1"/>
          </p:cNvCxnSpPr>
          <p:nvPr/>
        </p:nvCxnSpPr>
        <p:spPr>
          <a:xfrm>
            <a:off x="5485165" y="3340998"/>
            <a:ext cx="7846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EA70932C-48C9-E41D-5994-546A7352D517}"/>
              </a:ext>
            </a:extLst>
          </p:cNvPr>
          <p:cNvCxnSpPr>
            <a:endCxn id="39" idx="0"/>
          </p:cNvCxnSpPr>
          <p:nvPr/>
        </p:nvCxnSpPr>
        <p:spPr>
          <a:xfrm>
            <a:off x="7363390" y="2300305"/>
            <a:ext cx="0" cy="6329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35E0F921-480A-657A-4BF8-3A0029F11A82}"/>
              </a:ext>
            </a:extLst>
          </p:cNvPr>
          <p:cNvCxnSpPr>
            <a:stCxn id="39" idx="3"/>
            <a:endCxn id="43" idx="1"/>
          </p:cNvCxnSpPr>
          <p:nvPr/>
        </p:nvCxnSpPr>
        <p:spPr>
          <a:xfrm>
            <a:off x="8456963" y="3340998"/>
            <a:ext cx="582826" cy="39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A23FA636-4BBF-1721-2953-EC811DCD46E4}"/>
              </a:ext>
            </a:extLst>
          </p:cNvPr>
          <p:cNvCxnSpPr>
            <a:stCxn id="43" idx="2"/>
            <a:endCxn id="37" idx="0"/>
          </p:cNvCxnSpPr>
          <p:nvPr/>
        </p:nvCxnSpPr>
        <p:spPr>
          <a:xfrm>
            <a:off x="10236336" y="3901043"/>
            <a:ext cx="0" cy="2551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557C8D11-EA0C-34C9-04C2-DB9A364D7F56}"/>
              </a:ext>
            </a:extLst>
          </p:cNvPr>
          <p:cNvCxnSpPr>
            <a:stCxn id="37" idx="1"/>
            <a:endCxn id="40" idx="3"/>
          </p:cNvCxnSpPr>
          <p:nvPr/>
        </p:nvCxnSpPr>
        <p:spPr>
          <a:xfrm flipH="1">
            <a:off x="8431514" y="4563965"/>
            <a:ext cx="71124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9DA5ACEA-63FF-0854-7C3F-5EC96A765D1D}"/>
              </a:ext>
            </a:extLst>
          </p:cNvPr>
          <p:cNvCxnSpPr>
            <a:cxnSpLocks/>
            <a:stCxn id="40" idx="1"/>
            <a:endCxn id="42" idx="3"/>
          </p:cNvCxnSpPr>
          <p:nvPr/>
        </p:nvCxnSpPr>
        <p:spPr>
          <a:xfrm flipH="1" flipV="1">
            <a:off x="5585340" y="4558514"/>
            <a:ext cx="659028" cy="54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CB8DD352-477C-3264-F11A-C2B898F4F792}"/>
              </a:ext>
            </a:extLst>
          </p:cNvPr>
          <p:cNvCxnSpPr>
            <a:stCxn id="42" idx="0"/>
            <a:endCxn id="38" idx="2"/>
          </p:cNvCxnSpPr>
          <p:nvPr/>
        </p:nvCxnSpPr>
        <p:spPr>
          <a:xfrm flipV="1">
            <a:off x="4388794" y="3748771"/>
            <a:ext cx="2798" cy="2536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CAD58424-9F12-570E-A879-D3079AB0ED8D}"/>
              </a:ext>
            </a:extLst>
          </p:cNvPr>
          <p:cNvCxnSpPr>
            <a:stCxn id="42" idx="2"/>
            <a:endCxn id="48" idx="0"/>
          </p:cNvCxnSpPr>
          <p:nvPr/>
        </p:nvCxnSpPr>
        <p:spPr>
          <a:xfrm>
            <a:off x="4388794" y="5114568"/>
            <a:ext cx="2798" cy="5804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CC4B3C97-B7D4-A42B-22CB-8E6DD54CBC85}"/>
              </a:ext>
            </a:extLst>
          </p:cNvPr>
          <p:cNvCxnSpPr>
            <a:stCxn id="48" idx="1"/>
            <a:endCxn id="49" idx="3"/>
          </p:cNvCxnSpPr>
          <p:nvPr/>
        </p:nvCxnSpPr>
        <p:spPr>
          <a:xfrm flipH="1">
            <a:off x="2998658" y="6102756"/>
            <a:ext cx="29936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99026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FF9B822F-893E-44C8-963C-64F50ACECB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BF87945-A001-489F-9D9B-7D9435F0B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8639" y="347471"/>
            <a:ext cx="11100816" cy="180136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3C5D297-DD2B-7786-022D-D0B31A54D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5216"/>
            <a:ext cx="10515600" cy="1325563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85750" latinLnBrk="0"/>
            <a:r>
              <a:rPr lang="ko-KR" altLang="en-US" b="1" dirty="0">
                <a:solidFill>
                  <a:schemeClr val="bg1"/>
                </a:solidFill>
                <a:ea typeface="맑은 고딕"/>
              </a:rPr>
              <a:t>얼굴 인식</a:t>
            </a:r>
            <a:endParaRPr lang="en-US" altLang="ko-KR" b="1" dirty="0">
              <a:solidFill>
                <a:schemeClr val="bg1"/>
              </a:solidFill>
              <a:ea typeface="맑은 고딕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047498C-8400-D6AD-0355-B17C876433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5368" y="2496310"/>
            <a:ext cx="7444087" cy="3263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4557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FF9B822F-893E-44C8-963C-64F50ACECB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BF87945-A001-489F-9D9B-7D9435F0B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8639" y="347471"/>
            <a:ext cx="11100816" cy="180136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3C5D297-DD2B-7786-022D-D0B31A54D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5216"/>
            <a:ext cx="10515600" cy="1325563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85750" latinLnBrk="0"/>
            <a:r>
              <a:rPr lang="ko-KR" altLang="en-US" b="1" dirty="0">
                <a:solidFill>
                  <a:schemeClr val="bg1"/>
                </a:solidFill>
                <a:ea typeface="맑은 고딕"/>
              </a:rPr>
              <a:t>이미지 비교</a:t>
            </a:r>
            <a:endParaRPr lang="en-US" altLang="ko-KR" b="1" dirty="0">
              <a:solidFill>
                <a:schemeClr val="bg1"/>
              </a:solidFill>
              <a:ea typeface="맑은 고딕"/>
            </a:endParaRPr>
          </a:p>
        </p:txBody>
      </p: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C7960DE8-A339-D28E-B71D-D759E21915BB}"/>
              </a:ext>
            </a:extLst>
          </p:cNvPr>
          <p:cNvGrpSpPr/>
          <p:nvPr/>
        </p:nvGrpSpPr>
        <p:grpSpPr>
          <a:xfrm>
            <a:off x="542545" y="2261645"/>
            <a:ext cx="11354082" cy="4557087"/>
            <a:chOff x="405283" y="254202"/>
            <a:chExt cx="11393075" cy="6287711"/>
          </a:xfrm>
        </p:grpSpPr>
        <p:pic>
          <p:nvPicPr>
            <p:cNvPr id="68" name="그림 67">
              <a:extLst>
                <a:ext uri="{FF2B5EF4-FFF2-40B4-BE49-F238E27FC236}">
                  <a16:creationId xmlns:a16="http://schemas.microsoft.com/office/drawing/2014/main" id="{DE6E0185-DFD6-9A02-7B23-91B121712F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81836" y="366580"/>
              <a:ext cx="1687794" cy="1506609"/>
            </a:xfrm>
            <a:prstGeom prst="rect">
              <a:avLst/>
            </a:prstGeom>
          </p:spPr>
        </p:pic>
        <p:sp>
          <p:nvSpPr>
            <p:cNvPr id="69" name="화살표: 오른쪽 68">
              <a:extLst>
                <a:ext uri="{FF2B5EF4-FFF2-40B4-BE49-F238E27FC236}">
                  <a16:creationId xmlns:a16="http://schemas.microsoft.com/office/drawing/2014/main" id="{D38CD87C-BD9F-B18F-1BD2-71D3E61ACAB9}"/>
                </a:ext>
              </a:extLst>
            </p:cNvPr>
            <p:cNvSpPr/>
            <p:nvPr/>
          </p:nvSpPr>
          <p:spPr>
            <a:xfrm>
              <a:off x="2441397" y="599674"/>
              <a:ext cx="342770" cy="910916"/>
            </a:xfrm>
            <a:prstGeom prst="rightArrow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70" name="그룹 69">
              <a:extLst>
                <a:ext uri="{FF2B5EF4-FFF2-40B4-BE49-F238E27FC236}">
                  <a16:creationId xmlns:a16="http://schemas.microsoft.com/office/drawing/2014/main" id="{6C123EE6-90F2-8009-11C6-C32B4CB70505}"/>
                </a:ext>
              </a:extLst>
            </p:cNvPr>
            <p:cNvGrpSpPr/>
            <p:nvPr/>
          </p:nvGrpSpPr>
          <p:grpSpPr>
            <a:xfrm>
              <a:off x="422775" y="254202"/>
              <a:ext cx="1558426" cy="1506610"/>
              <a:chOff x="2708774" y="1807264"/>
              <a:chExt cx="2702769" cy="2702769"/>
            </a:xfrm>
          </p:grpSpPr>
          <p:sp>
            <p:nvSpPr>
              <p:cNvPr id="96" name="직사각형 95">
                <a:extLst>
                  <a:ext uri="{FF2B5EF4-FFF2-40B4-BE49-F238E27FC236}">
                    <a16:creationId xmlns:a16="http://schemas.microsoft.com/office/drawing/2014/main" id="{2C85DCD3-19B4-7AE4-E4E9-64F8A778BF44}"/>
                  </a:ext>
                </a:extLst>
              </p:cNvPr>
              <p:cNvSpPr/>
              <p:nvPr/>
            </p:nvSpPr>
            <p:spPr>
              <a:xfrm>
                <a:off x="3414176" y="2055972"/>
                <a:ext cx="1138774" cy="1487328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EF3B8C38-011E-7B94-C861-ACC9CD5FCEA0}"/>
                </a:ext>
              </a:extLst>
            </p:cNvPr>
            <p:cNvSpPr txBox="1"/>
            <p:nvPr/>
          </p:nvSpPr>
          <p:spPr>
            <a:xfrm>
              <a:off x="562947" y="2047875"/>
              <a:ext cx="11897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얼굴 인식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23BB4D9F-750A-0DBF-0A19-05353AB65572}"/>
                </a:ext>
              </a:extLst>
            </p:cNvPr>
            <p:cNvSpPr txBox="1"/>
            <p:nvPr/>
          </p:nvSpPr>
          <p:spPr>
            <a:xfrm>
              <a:off x="2612782" y="2047875"/>
              <a:ext cx="24545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 err="1"/>
                <a:t>face_encoding</a:t>
              </a:r>
              <a:r>
                <a:rPr lang="ko-KR" altLang="en-US" dirty="0"/>
                <a:t>을 계산</a:t>
              </a:r>
            </a:p>
          </p:txBody>
        </p:sp>
        <p:sp>
          <p:nvSpPr>
            <p:cNvPr id="74" name="화살표: 오른쪽 73">
              <a:extLst>
                <a:ext uri="{FF2B5EF4-FFF2-40B4-BE49-F238E27FC236}">
                  <a16:creationId xmlns:a16="http://schemas.microsoft.com/office/drawing/2014/main" id="{23714371-4E24-62E1-F02C-85394687C436}"/>
                </a:ext>
              </a:extLst>
            </p:cNvPr>
            <p:cNvSpPr/>
            <p:nvPr/>
          </p:nvSpPr>
          <p:spPr>
            <a:xfrm>
              <a:off x="5200650" y="664426"/>
              <a:ext cx="342770" cy="910916"/>
            </a:xfrm>
            <a:prstGeom prst="rightArrow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38EF669D-F85A-7283-BEC5-D64A35F93DFD}"/>
                </a:ext>
              </a:extLst>
            </p:cNvPr>
            <p:cNvSpPr txBox="1"/>
            <p:nvPr/>
          </p:nvSpPr>
          <p:spPr>
            <a:xfrm>
              <a:off x="6856779" y="2078726"/>
              <a:ext cx="42338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저장된 사람들과 </a:t>
              </a:r>
              <a:r>
                <a:rPr lang="en-US" altLang="ko-KR" dirty="0" err="1"/>
                <a:t>face_encoding</a:t>
              </a:r>
              <a:r>
                <a:rPr lang="ko-KR" altLang="en-US" dirty="0"/>
                <a:t>을 계산</a:t>
              </a:r>
            </a:p>
          </p:txBody>
        </p:sp>
        <p:grpSp>
          <p:nvGrpSpPr>
            <p:cNvPr id="77" name="그룹 76">
              <a:extLst>
                <a:ext uri="{FF2B5EF4-FFF2-40B4-BE49-F238E27FC236}">
                  <a16:creationId xmlns:a16="http://schemas.microsoft.com/office/drawing/2014/main" id="{1C27875D-49D5-D7CE-EED4-8FB3913C5672}"/>
                </a:ext>
              </a:extLst>
            </p:cNvPr>
            <p:cNvGrpSpPr/>
            <p:nvPr/>
          </p:nvGrpSpPr>
          <p:grpSpPr>
            <a:xfrm>
              <a:off x="405283" y="3547680"/>
              <a:ext cx="1719602" cy="2003158"/>
              <a:chOff x="2708774" y="1807264"/>
              <a:chExt cx="2702769" cy="2702769"/>
            </a:xfrm>
          </p:grpSpPr>
          <p:sp>
            <p:nvSpPr>
              <p:cNvPr id="94" name="직사각형 93">
                <a:extLst>
                  <a:ext uri="{FF2B5EF4-FFF2-40B4-BE49-F238E27FC236}">
                    <a16:creationId xmlns:a16="http://schemas.microsoft.com/office/drawing/2014/main" id="{1D3FDB7A-6ABC-171B-DA41-672193506EBA}"/>
                  </a:ext>
                </a:extLst>
              </p:cNvPr>
              <p:cNvSpPr/>
              <p:nvPr/>
            </p:nvSpPr>
            <p:spPr>
              <a:xfrm>
                <a:off x="3414176" y="2055972"/>
                <a:ext cx="1138774" cy="1487328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34E2A63A-D6EA-B820-DBA1-F0E9BB3D62A8}"/>
                </a:ext>
              </a:extLst>
            </p:cNvPr>
            <p:cNvSpPr txBox="1"/>
            <p:nvPr/>
          </p:nvSpPr>
          <p:spPr>
            <a:xfrm>
              <a:off x="2969057" y="4089419"/>
              <a:ext cx="4594256" cy="4671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 err="1"/>
                <a:t>similarity_threshold</a:t>
              </a:r>
              <a:r>
                <a:rPr lang="ko-KR" altLang="en-US" sz="1600" dirty="0"/>
                <a:t>보다 작으면 그 사람의 얼굴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9B0B2AEB-1A60-B8E1-7EDE-C225C6F5C5D5}"/>
                </a:ext>
              </a:extLst>
            </p:cNvPr>
            <p:cNvSpPr txBox="1"/>
            <p:nvPr/>
          </p:nvSpPr>
          <p:spPr>
            <a:xfrm>
              <a:off x="2969057" y="6074788"/>
              <a:ext cx="5444367" cy="4671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 err="1"/>
                <a:t>similarity_threshold</a:t>
              </a:r>
              <a:r>
                <a:rPr lang="ko-KR" altLang="en-US" sz="1600" dirty="0" err="1"/>
                <a:t>보다크면</a:t>
              </a:r>
              <a:r>
                <a:rPr lang="ko-KR" altLang="en-US" sz="1600" dirty="0"/>
                <a:t> 다른 사람 얼굴</a:t>
              </a:r>
            </a:p>
          </p:txBody>
        </p:sp>
        <p:sp>
          <p:nvSpPr>
            <p:cNvPr id="85" name="화살표: 오른쪽 84">
              <a:extLst>
                <a:ext uri="{FF2B5EF4-FFF2-40B4-BE49-F238E27FC236}">
                  <a16:creationId xmlns:a16="http://schemas.microsoft.com/office/drawing/2014/main" id="{966C2447-BA47-623C-E33B-766D2D86EC8A}"/>
                </a:ext>
              </a:extLst>
            </p:cNvPr>
            <p:cNvSpPr/>
            <p:nvPr/>
          </p:nvSpPr>
          <p:spPr>
            <a:xfrm>
              <a:off x="6302800" y="5134858"/>
              <a:ext cx="342770" cy="910916"/>
            </a:xfrm>
            <a:prstGeom prst="rightArrow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ECE041A3-B40F-D4AD-57E5-12F1C8B17569}"/>
                </a:ext>
              </a:extLst>
            </p:cNvPr>
            <p:cNvSpPr txBox="1"/>
            <p:nvPr/>
          </p:nvSpPr>
          <p:spPr>
            <a:xfrm>
              <a:off x="8041965" y="6137474"/>
              <a:ext cx="3440901" cy="369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모르는 얼굴들에 추가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90291450-2DBC-D875-D865-7C269CDF5C07}"/>
                </a:ext>
              </a:extLst>
            </p:cNvPr>
            <p:cNvSpPr txBox="1"/>
            <p:nvPr/>
          </p:nvSpPr>
          <p:spPr>
            <a:xfrm>
              <a:off x="8154124" y="4075871"/>
              <a:ext cx="2507418" cy="369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그 사람의 얼굴에 추가</a:t>
              </a:r>
            </a:p>
          </p:txBody>
        </p:sp>
        <p:sp>
          <p:nvSpPr>
            <p:cNvPr id="88" name="화살표: 오른쪽 87">
              <a:extLst>
                <a:ext uri="{FF2B5EF4-FFF2-40B4-BE49-F238E27FC236}">
                  <a16:creationId xmlns:a16="http://schemas.microsoft.com/office/drawing/2014/main" id="{9084B1DF-E713-5351-99D5-6D50958A9A5E}"/>
                </a:ext>
              </a:extLst>
            </p:cNvPr>
            <p:cNvSpPr/>
            <p:nvPr/>
          </p:nvSpPr>
          <p:spPr>
            <a:xfrm>
              <a:off x="6317572" y="2935442"/>
              <a:ext cx="342770" cy="910916"/>
            </a:xfrm>
            <a:prstGeom prst="rightArrow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0D3F561A-57BA-8241-3CD4-6B195612D795}"/>
                </a:ext>
              </a:extLst>
            </p:cNvPr>
            <p:cNvSpPr txBox="1"/>
            <p:nvPr/>
          </p:nvSpPr>
          <p:spPr>
            <a:xfrm>
              <a:off x="2188909" y="5561017"/>
              <a:ext cx="14334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인식 </a:t>
              </a:r>
              <a:r>
                <a:rPr lang="en-US" altLang="ko-KR" dirty="0"/>
                <a:t>&gt; </a:t>
              </a:r>
              <a:r>
                <a:rPr lang="ko-KR" altLang="en-US" dirty="0"/>
                <a:t>비교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D9E0F0D5-C08C-C316-673F-4A608244992F}"/>
                </a:ext>
              </a:extLst>
            </p:cNvPr>
            <p:cNvSpPr txBox="1"/>
            <p:nvPr/>
          </p:nvSpPr>
          <p:spPr>
            <a:xfrm>
              <a:off x="2109130" y="3100461"/>
              <a:ext cx="14334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인식 </a:t>
              </a:r>
              <a:r>
                <a:rPr lang="en-US" altLang="ko-KR" dirty="0"/>
                <a:t>&lt; </a:t>
              </a:r>
              <a:r>
                <a:rPr lang="ko-KR" altLang="en-US" dirty="0"/>
                <a:t>비교</a:t>
              </a:r>
            </a:p>
          </p:txBody>
        </p:sp>
        <p:cxnSp>
          <p:nvCxnSpPr>
            <p:cNvPr id="91" name="연결선: 꺾임 90">
              <a:extLst>
                <a:ext uri="{FF2B5EF4-FFF2-40B4-BE49-F238E27FC236}">
                  <a16:creationId xmlns:a16="http://schemas.microsoft.com/office/drawing/2014/main" id="{E643ACA5-A01C-4279-F0D2-DC6BFF213A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33697" y="3512534"/>
              <a:ext cx="1275562" cy="1062768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연결선: 꺾임 91">
              <a:extLst>
                <a:ext uri="{FF2B5EF4-FFF2-40B4-BE49-F238E27FC236}">
                  <a16:creationId xmlns:a16="http://schemas.microsoft.com/office/drawing/2014/main" id="{D70AFC35-FEA3-7077-2330-61A23BA57E71}"/>
                </a:ext>
              </a:extLst>
            </p:cNvPr>
            <p:cNvCxnSpPr>
              <a:cxnSpLocks/>
            </p:cNvCxnSpPr>
            <p:nvPr/>
          </p:nvCxnSpPr>
          <p:spPr>
            <a:xfrm>
              <a:off x="2328853" y="4565120"/>
              <a:ext cx="1280406" cy="891691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854734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FF9B822F-893E-44C8-963C-64F50ACECB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BF87945-A001-489F-9D9B-7D9435F0B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8639" y="347471"/>
            <a:ext cx="11100816" cy="180136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3C5D297-DD2B-7786-022D-D0B31A54D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5216"/>
            <a:ext cx="10515600" cy="1325563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85750" latinLnBrk="0"/>
            <a:r>
              <a:rPr lang="en-US" altLang="ko-KR" b="1" dirty="0">
                <a:solidFill>
                  <a:schemeClr val="bg1"/>
                </a:solidFill>
                <a:ea typeface="맑은 고딕"/>
              </a:rPr>
              <a:t>10</a:t>
            </a:r>
            <a:r>
              <a:rPr lang="ko-KR" altLang="en-US" b="1">
                <a:solidFill>
                  <a:schemeClr val="bg1"/>
                </a:solidFill>
                <a:ea typeface="맑은 고딕"/>
              </a:rPr>
              <a:t>월 현재 </a:t>
            </a:r>
            <a:r>
              <a:rPr lang="ko-KR" altLang="en-US" b="1" dirty="0">
                <a:solidFill>
                  <a:schemeClr val="bg1"/>
                </a:solidFill>
                <a:ea typeface="맑은 고딕"/>
              </a:rPr>
              <a:t>진행사양</a:t>
            </a:r>
            <a:endParaRPr lang="en-US" altLang="ko-KR" b="1" dirty="0">
              <a:solidFill>
                <a:schemeClr val="bg1"/>
              </a:solidFill>
              <a:ea typeface="맑은 고딕"/>
            </a:endParaRPr>
          </a:p>
        </p:txBody>
      </p:sp>
      <p:sp>
        <p:nvSpPr>
          <p:cNvPr id="35" name="내용 개체 틀 8">
            <a:extLst>
              <a:ext uri="{FF2B5EF4-FFF2-40B4-BE49-F238E27FC236}">
                <a16:creationId xmlns:a16="http://schemas.microsoft.com/office/drawing/2014/main" id="{5FDCE604-617F-0FB9-F6B9-85D1565AC2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2848088"/>
            <a:ext cx="11100815" cy="218800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en-US" altLang="ko-KR" sz="1800" dirty="0">
                <a:ea typeface="맑은 고딕"/>
              </a:rPr>
              <a:t>UI</a:t>
            </a:r>
            <a:r>
              <a:rPr lang="ko-KR" altLang="en-US" sz="1800" dirty="0">
                <a:ea typeface="맑은 고딕"/>
              </a:rPr>
              <a:t> </a:t>
            </a:r>
            <a:r>
              <a:rPr lang="ko-KR" altLang="en-US" sz="1800" dirty="0" err="1">
                <a:ea typeface="맑은 고딕"/>
              </a:rPr>
              <a:t>제작중</a:t>
            </a:r>
            <a:endParaRPr lang="en-US" altLang="ko-KR" sz="1800" dirty="0">
              <a:ea typeface="맑은 고딕"/>
            </a:endParaRPr>
          </a:p>
          <a:p>
            <a:pPr lvl="1" latinLnBrk="0"/>
            <a:r>
              <a:rPr lang="ko-KR" altLang="en-US" sz="1200" dirty="0">
                <a:ea typeface="맑은 고딕"/>
              </a:rPr>
              <a:t> </a:t>
            </a:r>
            <a:r>
              <a:rPr lang="ko-KR" altLang="en-US" sz="1600" dirty="0">
                <a:ea typeface="맑은 고딕"/>
              </a:rPr>
              <a:t>현재 </a:t>
            </a:r>
            <a:r>
              <a:rPr lang="en-US" altLang="ko-KR" sz="1600" dirty="0">
                <a:ea typeface="맑은 고딕"/>
              </a:rPr>
              <a:t>UI</a:t>
            </a:r>
            <a:r>
              <a:rPr lang="ko-KR" altLang="en-US" sz="1600" dirty="0">
                <a:ea typeface="맑은 고딕"/>
              </a:rPr>
              <a:t>에서 카메라 띄우는 법 찾는 중</a:t>
            </a:r>
            <a:endParaRPr lang="en-US" altLang="ko-KR" sz="1200" dirty="0">
              <a:ea typeface="맑은 고딕"/>
            </a:endParaRPr>
          </a:p>
          <a:p>
            <a:pPr latinLnBrk="0"/>
            <a:r>
              <a:rPr lang="ko-KR" altLang="en-US" sz="2000" dirty="0">
                <a:ea typeface="맑은 고딕"/>
              </a:rPr>
              <a:t>프로그램 </a:t>
            </a:r>
            <a:r>
              <a:rPr lang="en-US" altLang="ko-KR" sz="2000" dirty="0">
                <a:ea typeface="맑은 고딕"/>
              </a:rPr>
              <a:t>Merge</a:t>
            </a:r>
            <a:r>
              <a:rPr lang="ko-KR" altLang="en-US" sz="2000" dirty="0">
                <a:ea typeface="맑은 고딕"/>
              </a:rPr>
              <a:t>중</a:t>
            </a:r>
            <a:endParaRPr lang="en-US" altLang="ko-KR" sz="2000" dirty="0">
              <a:ea typeface="맑은 고딕"/>
            </a:endParaRPr>
          </a:p>
          <a:p>
            <a:pPr lvl="1" latinLnBrk="0"/>
            <a:r>
              <a:rPr lang="ko-KR" altLang="en-US" sz="1600" dirty="0">
                <a:ea typeface="맑은 고딕"/>
              </a:rPr>
              <a:t>각자 맡은 </a:t>
            </a:r>
            <a:r>
              <a:rPr lang="en-US" altLang="ko-KR" sz="1600" dirty="0">
                <a:ea typeface="맑은 고딕"/>
              </a:rPr>
              <a:t>Part</a:t>
            </a:r>
            <a:r>
              <a:rPr lang="ko-KR" altLang="en-US" sz="1600" dirty="0">
                <a:ea typeface="맑은 고딕"/>
              </a:rPr>
              <a:t>로 분리해서 개발되어 </a:t>
            </a:r>
            <a:r>
              <a:rPr lang="en-US" altLang="ko-KR" sz="1600" dirty="0">
                <a:ea typeface="맑은 고딕"/>
              </a:rPr>
              <a:t>Merge </a:t>
            </a:r>
            <a:r>
              <a:rPr lang="ko-KR" altLang="en-US" sz="1600" dirty="0">
                <a:ea typeface="맑은 고딕"/>
              </a:rPr>
              <a:t>작업을 통해 하나의 프로그램으로 합치는 중</a:t>
            </a:r>
            <a:endParaRPr lang="en-US" altLang="ko-KR" sz="1600" dirty="0">
              <a:ea typeface="맑은 고딕"/>
            </a:endParaRPr>
          </a:p>
          <a:p>
            <a:pPr latinLnBrk="0"/>
            <a:r>
              <a:rPr lang="ko-KR" altLang="en-US" sz="1800" dirty="0">
                <a:ea typeface="맑은 고딕"/>
              </a:rPr>
              <a:t>초음파 센서 구매</a:t>
            </a:r>
            <a:endParaRPr lang="en-US" altLang="ko-KR" sz="1800" dirty="0">
              <a:ea typeface="맑은 고딕"/>
            </a:endParaRPr>
          </a:p>
          <a:p>
            <a:pPr lvl="1" latinLnBrk="0"/>
            <a:r>
              <a:rPr lang="ko-KR" altLang="en-US" sz="1600" dirty="0">
                <a:ea typeface="맑은 고딕"/>
              </a:rPr>
              <a:t>초음파 센서가 </a:t>
            </a:r>
            <a:r>
              <a:rPr lang="ko-KR" altLang="en-US" sz="1600" dirty="0" err="1">
                <a:ea typeface="맑은 고딕"/>
              </a:rPr>
              <a:t>아두이노</a:t>
            </a:r>
            <a:r>
              <a:rPr lang="ko-KR" altLang="en-US" sz="1600" dirty="0">
                <a:ea typeface="맑은 고딕"/>
              </a:rPr>
              <a:t> 용이라서 새로 구매 신청 </a:t>
            </a:r>
            <a:r>
              <a:rPr lang="ko-KR" altLang="en-US" sz="1600" dirty="0" err="1">
                <a:ea typeface="맑은 고딕"/>
              </a:rPr>
              <a:t>하는중</a:t>
            </a:r>
            <a:endParaRPr lang="en-US" altLang="ko-KR" sz="1600" dirty="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8603195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191</Words>
  <Application>Microsoft Office PowerPoint</Application>
  <PresentationFormat>와이드스크린</PresentationFormat>
  <Paragraphs>54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Malgun Gothic</vt:lpstr>
      <vt:lpstr>Malgun Gothic</vt:lpstr>
      <vt:lpstr>Arial</vt:lpstr>
      <vt:lpstr>Office 테마</vt:lpstr>
      <vt:lpstr>주문형실습 결과 보고서</vt:lpstr>
      <vt:lpstr>업무분담</vt:lpstr>
      <vt:lpstr>얼굴인식 도어락</vt:lpstr>
      <vt:lpstr>작동 순서 (서버)</vt:lpstr>
      <vt:lpstr>얼굴 인식</vt:lpstr>
      <vt:lpstr>이미지 비교</vt:lpstr>
      <vt:lpstr>10월 현재 진행사양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/>
  <cp:lastModifiedBy/>
  <cp:revision>216</cp:revision>
  <dcterms:created xsi:type="dcterms:W3CDTF">2022-05-09T15:29:27Z</dcterms:created>
  <dcterms:modified xsi:type="dcterms:W3CDTF">2022-10-02T05:22:40Z</dcterms:modified>
</cp:coreProperties>
</file>